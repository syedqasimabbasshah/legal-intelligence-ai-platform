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AI-234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Legal Intelligence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Contract Reasoning Platform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Ezitech Engineering Framework — Industry Case Study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8M Legal Documents</a:t>
            </a:r>
            <a:pPr indent="0" marL="0">
              <a:buNone/>
            </a:pPr>
            <a:r>
              <a:rPr lang="en-US" sz="1200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2M Active Contracts</a:t>
            </a:r>
            <a:pPr indent="0" marL="0">
              <a:buNone/>
            </a:pPr>
            <a:r>
              <a:rPr lang="en-US" sz="1200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45 Countries</a:t>
            </a:r>
            <a:pPr indent="0" marL="0">
              <a:buNone/>
            </a:pPr>
            <a:r>
              <a:rPr lang="en-US" sz="1200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500 Regulatory Frameworks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2 AI Engineers    |    Duration: 4 Weeks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legal department drowning in manual review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Contract Review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8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Thousands of hours spent reading agreements line by line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60520" y="182880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Renewal Deadlines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89120" y="24231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8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systematic tracking across 2M active contracts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0" y="182880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01000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Legal Risks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001000" y="24231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8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liability and ambiguous clauses go unnoticed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794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Violations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2062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8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regulatory frameworks, no automated checking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60520" y="361188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3794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Agreements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89120" y="42062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8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cross-referencing across 12 legal departments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72400" y="361188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01000" y="3794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Legal Research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001000" y="42062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8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Precedent lookup takes days, not minutes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OBJECTIVE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platform: read, reason, track, decide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 Enterprise Legal Intelligence &amp; Contract Reasoning Platform that automatically analyzes legal documents, extracts clauses, identifies contractual risks, compares agreements, tracks obligations, assists legal professionals through an AI copilot, and generates compliance insights.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595360" y="1828800"/>
            <a:ext cx="3017520" cy="4206240"/>
          </a:xfrm>
          <a:prstGeom prst="roundRect">
            <a:avLst>
              <a:gd name="adj" fmla="val 2424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23960" y="2057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 Principles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823960" y="2514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Event-driven, not batch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823960" y="3017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Explainable, not black-box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823960" y="35204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Multi-agent specialization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823960" y="4023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Graceful degradation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823960" y="4526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Role-based access control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pipeline feeding a multi-agent copilot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103120" cy="3566160"/>
          </a:xfrm>
          <a:prstGeom prst="roundRect">
            <a:avLst>
              <a:gd name="adj" fmla="val 3478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084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514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3063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NDAs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3611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Agreements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651760" y="352044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816352" y="1920240"/>
            <a:ext cx="2103120" cy="3566160"/>
          </a:xfrm>
          <a:prstGeom prst="roundRect">
            <a:avLst>
              <a:gd name="adj" fmla="val 3478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53512" y="2084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 BUS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53512" y="2514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Pub/Sub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953512" y="3063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Chain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19472" y="352044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84064" y="1920240"/>
            <a:ext cx="2103120" cy="3566160"/>
          </a:xfrm>
          <a:prstGeom prst="roundRect">
            <a:avLst>
              <a:gd name="adj" fmla="val 3478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21224" y="2084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INTELLIGENCE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21224" y="2514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 Extraction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221224" y="3063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21224" y="3611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Obligation Tracking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221224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Check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187184" y="352044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51776" y="1920240"/>
            <a:ext cx="2103120" cy="3566160"/>
          </a:xfrm>
          <a:prstGeom prst="roundRect">
            <a:avLst>
              <a:gd name="adj" fmla="val 3478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88936" y="2084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88936" y="2514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 Graph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488936" y="3063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488936" y="3611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Cache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488936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 RAG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454896" y="352044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619488" y="1920240"/>
            <a:ext cx="2103120" cy="3566160"/>
          </a:xfrm>
          <a:prstGeom prst="roundRect">
            <a:avLst>
              <a:gd name="adj" fmla="val 3478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56648" y="2084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756648" y="2514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Gateway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756648" y="3063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Copilot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756648" y="3611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MODULES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engines, one coordinated platform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121408" cy="1874520"/>
          </a:xfrm>
          <a:prstGeom prst="roundRect">
            <a:avLst>
              <a:gd name="adj" fmla="val 3902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233172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Document Intelligence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310896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8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document types → structured ingestion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816352" y="1874520"/>
            <a:ext cx="2121408" cy="1874520"/>
          </a:xfrm>
          <a:prstGeom prst="roundRect">
            <a:avLst>
              <a:gd name="adj" fmla="val 3902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80944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80944" y="233172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Pipeline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80944" y="310896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8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Pub/Sub reactive processing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84064" y="1874520"/>
            <a:ext cx="2121408" cy="1874520"/>
          </a:xfrm>
          <a:prstGeom prst="roundRect">
            <a:avLst>
              <a:gd name="adj" fmla="val 3902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48656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48656" y="233172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 Extraction Engine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48656" y="310896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8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spaCy NLP + rule-based hybrid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51776" y="1874520"/>
            <a:ext cx="2121408" cy="1874520"/>
          </a:xfrm>
          <a:prstGeom prst="roundRect">
            <a:avLst>
              <a:gd name="adj" fmla="val 3902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16368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516368" y="233172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Risk Intelligence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16368" y="310896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8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+ Logistic Regression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619488" y="1874520"/>
            <a:ext cx="2121408" cy="1874520"/>
          </a:xfrm>
          <a:prstGeom prst="roundRect">
            <a:avLst>
              <a:gd name="adj" fmla="val 3902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0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784080" y="233172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Obligation Tracking Engine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784080" y="310896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8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Deadlines, SLAs, renewal dates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3931920"/>
            <a:ext cx="2121408" cy="1874520"/>
          </a:xfrm>
          <a:prstGeom prst="roundRect">
            <a:avLst>
              <a:gd name="adj" fmla="val 3902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4069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3232" y="438912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Knowledge Graph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" y="516636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8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 + NetworkX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816352" y="3931920"/>
            <a:ext cx="2121408" cy="1874520"/>
          </a:xfrm>
          <a:prstGeom prst="roundRect">
            <a:avLst>
              <a:gd name="adj" fmla="val 3902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80944" y="4069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980944" y="438912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Intelligence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980944" y="516636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8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regulatory frameworks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84064" y="3931920"/>
            <a:ext cx="2121408" cy="1874520"/>
          </a:xfrm>
          <a:prstGeom prst="roundRect">
            <a:avLst>
              <a:gd name="adj" fmla="val 3902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48656" y="4069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48656" y="438912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RAG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48656" y="516636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8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 semantic search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351776" y="3931920"/>
            <a:ext cx="2121408" cy="1874520"/>
          </a:xfrm>
          <a:prstGeom prst="roundRect">
            <a:avLst>
              <a:gd name="adj" fmla="val 3902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16368" y="4069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516368" y="438912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516368" y="516636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8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&amp; compliance narratives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619488" y="3931920"/>
            <a:ext cx="2121408" cy="1874520"/>
          </a:xfrm>
          <a:prstGeom prst="roundRect">
            <a:avLst>
              <a:gd name="adj" fmla="val 3902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784080" y="4069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784080" y="438912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Copilot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784080" y="516636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8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specialist agents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EVENT-DRIVEN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ingestion event triggers a reactive chain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4206240"/>
          </a:xfrm>
          <a:prstGeom prst="roundRect">
            <a:avLst>
              <a:gd name="adj" fmla="val 1739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86000"/>
            <a:ext cx="2468880" cy="1828800"/>
          </a:xfrm>
          <a:prstGeom prst="roundRect">
            <a:avLst>
              <a:gd name="adj" fmla="val 3000"/>
            </a:avLst>
          </a:prstGeom>
          <a:solidFill>
            <a:srgbClr val="0B0F1A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DOCUMENT_INGESTED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30175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enters the pipeline, event published to Redis Pub/Sub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37560" y="30175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657600" y="2286000"/>
            <a:ext cx="2468880" cy="1828800"/>
          </a:xfrm>
          <a:prstGeom prst="roundRect">
            <a:avLst>
              <a:gd name="adj" fmla="val 3000"/>
            </a:avLst>
          </a:prstGeom>
          <a:solidFill>
            <a:srgbClr val="0B0F1A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476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CLAUSES_EXTRACTED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94760" y="30175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Subscriber automatically runs clause extraction on the new document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26480" y="30175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46520" y="2286000"/>
            <a:ext cx="2468880" cy="1828800"/>
          </a:xfrm>
          <a:prstGeom prst="roundRect">
            <a:avLst>
              <a:gd name="adj" fmla="val 3000"/>
            </a:avLst>
          </a:prstGeom>
          <a:solidFill>
            <a:srgbClr val="0B0F1A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RISK_ASSESSED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0" y="30175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clauses or high risk triggers a downstream risk scoring pass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915400" y="30175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235440" y="2286000"/>
            <a:ext cx="2468880" cy="1828800"/>
          </a:xfrm>
          <a:prstGeom prst="roundRect">
            <a:avLst>
              <a:gd name="adj" fmla="val 3000"/>
            </a:avLst>
          </a:prstGeom>
          <a:solidFill>
            <a:srgbClr val="0B0F1A"/>
          </a:solidFill>
          <a:ln w="19050">
            <a:solidFill>
              <a:srgbClr val="FF5C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7260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5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ALERT_RAISED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72600" y="30175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findings automatically generate an alert, no manual trigger needed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" y="44805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8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Redis Pub/Sub when available, with an in-process fallback dispatcher so the reactive pipeline always runs — even fully offline.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CLAUSE EXTRACTION &amp; RISK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contracts the way an associate would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57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 Extraction Engine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0B0F1A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260604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0B0F1A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3227832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0B0F1A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278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3227832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0B0F1A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32278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Liability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3849624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0B0F1A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496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Majeure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3849624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0B0F1A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38496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4471416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0B0F1A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4714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Governing Law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4471416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0B0F1A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44714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5440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8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pattern matching + spaCy NLP classification, hybrid-merged by confidence score.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72200" y="1828800"/>
            <a:ext cx="5468112" cy="4206240"/>
          </a:xfrm>
          <a:prstGeom prst="roundRect">
            <a:avLst>
              <a:gd name="adj" fmla="val 1739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2057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Risk Intelligence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46520" y="2606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Unlimited Liability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46520" y="28986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Uncapped damages exposure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46520" y="33832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 Clauses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46520" y="36758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terms not present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46520" y="4160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Ambiguous Language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46520" y="44531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"reasonable efforts", "sole discretion"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46520" y="4937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Financial Exposure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46520" y="52303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value × risk multiplier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TRACKING &amp; GOVERNANCE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expires or violates policy unnoticed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57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Obligation Tracking Engine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971800"/>
            <a:ext cx="4846320" cy="914"/>
          </a:xfrm>
          <a:prstGeom prst="line">
            <a:avLst/>
          </a:prstGeom>
          <a:noFill/>
          <a:ln w="12700">
            <a:solidFill>
              <a:srgbClr val="232B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606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Renewal Dates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3502152"/>
            <a:ext cx="4846320" cy="914"/>
          </a:xfrm>
          <a:prstGeom prst="line">
            <a:avLst/>
          </a:prstGeom>
          <a:noFill/>
          <a:ln w="12700">
            <a:solidFill>
              <a:srgbClr val="232B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1363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Deliverables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032504"/>
            <a:ext cx="4846320" cy="914"/>
          </a:xfrm>
          <a:prstGeom prst="line">
            <a:avLst/>
          </a:prstGeom>
          <a:noFill/>
          <a:ln w="12700">
            <a:solidFill>
              <a:srgbClr val="232B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66674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Payment Deadlines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4562856"/>
            <a:ext cx="4846320" cy="914"/>
          </a:xfrm>
          <a:prstGeom prst="line">
            <a:avLst/>
          </a:prstGeom>
          <a:noFill/>
          <a:ln w="12700">
            <a:solidFill>
              <a:srgbClr val="232B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19709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Notice Periods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5093208"/>
            <a:ext cx="4846320" cy="914"/>
          </a:xfrm>
          <a:prstGeom prst="line">
            <a:avLst/>
          </a:prstGeom>
          <a:noFill/>
          <a:ln w="12700">
            <a:solidFill>
              <a:srgbClr val="232B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7274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SLA Milestones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5623560"/>
            <a:ext cx="4846320" cy="914"/>
          </a:xfrm>
          <a:prstGeom prst="line">
            <a:avLst/>
          </a:prstGeom>
          <a:noFill/>
          <a:ln w="12700">
            <a:solidFill>
              <a:srgbClr val="232B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257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Compliance Requirements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1828800"/>
            <a:ext cx="5468112" cy="4206240"/>
          </a:xfrm>
          <a:prstGeom prst="roundRect">
            <a:avLst>
              <a:gd name="adj" fmla="val 1739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057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Intelligence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46520" y="260604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0B0F1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915400" y="260604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0B0F1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1540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SOX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46520" y="3227832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0B0F1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32278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HIPAA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915400" y="3227832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0B0F1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15400" y="32278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Standard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46520" y="3849624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0B0F1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38496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Anti-Bribery Policy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915400" y="3849624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0B0F1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15400" y="38496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Governance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46520" y="5440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8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rule engine evaluates applicable frameworks per document type, plus a regulatory change monitor for upcoming rule updates.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LEGAL COPILOT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supervisor routing to five specialist agents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 flipV="1">
            <a:off x="1188720" y="2651760"/>
            <a:ext cx="4206240" cy="640080"/>
          </a:xfrm>
          <a:prstGeom prst="line">
            <a:avLst/>
          </a:prstGeom>
          <a:noFill/>
          <a:ln w="15875">
            <a:solidFill>
              <a:srgbClr val="232B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3200400" y="2651760"/>
            <a:ext cx="2194560" cy="640080"/>
          </a:xfrm>
          <a:prstGeom prst="line">
            <a:avLst/>
          </a:prstGeom>
          <a:noFill/>
          <a:ln w="15875">
            <a:solidFill>
              <a:srgbClr val="232B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5212080" y="2651760"/>
            <a:ext cx="182880" cy="640080"/>
          </a:xfrm>
          <a:prstGeom prst="line">
            <a:avLst/>
          </a:prstGeom>
          <a:noFill/>
          <a:ln w="15875">
            <a:solidFill>
              <a:srgbClr val="232B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94960" y="2651760"/>
            <a:ext cx="1828800" cy="640080"/>
          </a:xfrm>
          <a:prstGeom prst="line">
            <a:avLst/>
          </a:prstGeom>
          <a:noFill/>
          <a:ln w="15875">
            <a:solidFill>
              <a:srgbClr val="232B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2651760"/>
            <a:ext cx="3840480" cy="640080"/>
          </a:xfrm>
          <a:prstGeom prst="line">
            <a:avLst/>
          </a:prstGeom>
          <a:noFill/>
          <a:ln w="15875">
            <a:solidFill>
              <a:srgbClr val="232B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1920240"/>
            <a:ext cx="1463040" cy="1051560"/>
          </a:xfrm>
          <a:prstGeom prst="roundRect">
            <a:avLst>
              <a:gd name="adj" fmla="val 6957"/>
            </a:avLst>
          </a:prstGeom>
          <a:solidFill>
            <a:srgbClr val="131826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20299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193792" y="2542032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88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each question to relevant specialists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1371600" cy="1051560"/>
          </a:xfrm>
          <a:prstGeom prst="roundRect">
            <a:avLst>
              <a:gd name="adj" fmla="val 6957"/>
            </a:avLst>
          </a:prstGeom>
          <a:solidFill>
            <a:srgbClr val="131826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4015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4C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4C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13232" y="3913632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88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&amp; compare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51760" y="3291840"/>
            <a:ext cx="1371600" cy="1051560"/>
          </a:xfrm>
          <a:prstGeom prst="roundRect">
            <a:avLst>
              <a:gd name="adj" fmla="val 6957"/>
            </a:avLst>
          </a:prstGeom>
          <a:solidFill>
            <a:srgbClr val="131826"/>
          </a:solidFill>
          <a:ln w="19050">
            <a:solidFill>
              <a:srgbClr val="FF5C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34015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724912" y="3913632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88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risky clauses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63440" y="3291840"/>
            <a:ext cx="1371600" cy="1051560"/>
          </a:xfrm>
          <a:prstGeom prst="roundRect">
            <a:avLst>
              <a:gd name="adj" fmla="val 6957"/>
            </a:avLst>
          </a:prstGeom>
          <a:solidFill>
            <a:srgbClr val="131826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34015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36592" y="3913632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88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policy violations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675120" y="3291840"/>
            <a:ext cx="1371600" cy="1051560"/>
          </a:xfrm>
          <a:prstGeom prst="roundRect">
            <a:avLst>
              <a:gd name="adj" fmla="val 6957"/>
            </a:avLst>
          </a:prstGeom>
          <a:solidFill>
            <a:srgbClr val="131826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34015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Obligations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748272" y="3913632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88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Deadlines &amp; renewals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686800" y="3291840"/>
            <a:ext cx="1371600" cy="1051560"/>
          </a:xfrm>
          <a:prstGeom prst="roundRect">
            <a:avLst>
              <a:gd name="adj" fmla="val 6957"/>
            </a:avLst>
          </a:prstGeom>
          <a:solidFill>
            <a:srgbClr val="131826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0" y="34015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4C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4C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759952" y="3913632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88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 precedent search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40080" y="48463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obligations expire next month and are there any risky clauses?" → routes to BOTH Risk Analyst and Obligations Tracker in parallel, synthesized into one answer.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5623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Genuine multi-agent fan-out/converge via LangGraph — not a single agent with many tools.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TRUST &amp; TRACEABILITY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relationship mapped, every decision explained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57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Knowledge Graph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2606040"/>
            <a:ext cx="1645920" cy="822960"/>
          </a:xfrm>
          <a:prstGeom prst="line">
            <a:avLst/>
          </a:prstGeom>
          <a:noFill/>
          <a:ln w="19050">
            <a:solidFill>
              <a:srgbClr val="232B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2606040"/>
            <a:ext cx="1463040" cy="822960"/>
          </a:xfrm>
          <a:prstGeom prst="line">
            <a:avLst/>
          </a:prstGeom>
          <a:noFill/>
          <a:ln w="19050">
            <a:solidFill>
              <a:srgbClr val="232B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429000"/>
            <a:ext cx="548640" cy="822960"/>
          </a:xfrm>
          <a:prstGeom prst="line">
            <a:avLst/>
          </a:prstGeom>
          <a:noFill/>
          <a:ln w="19050">
            <a:solidFill>
              <a:srgbClr val="232B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3429000"/>
            <a:ext cx="640080" cy="822960"/>
          </a:xfrm>
          <a:prstGeom prst="line">
            <a:avLst/>
          </a:prstGeom>
          <a:noFill/>
          <a:ln w="19050">
            <a:solidFill>
              <a:srgbClr val="232B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3429000"/>
            <a:ext cx="1097280" cy="1554480"/>
          </a:xfrm>
          <a:prstGeom prst="line">
            <a:avLst/>
          </a:prstGeom>
          <a:noFill/>
          <a:ln w="19050">
            <a:solidFill>
              <a:srgbClr val="232B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17520" y="2606040"/>
            <a:ext cx="777240" cy="365760"/>
          </a:xfrm>
          <a:prstGeom prst="ellipse">
            <a:avLst/>
          </a:prstGeom>
          <a:solidFill>
            <a:srgbClr val="0B0F1A"/>
          </a:solidFill>
          <a:ln w="15875">
            <a:solidFill>
              <a:srgbClr val="4C8D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260604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371600" y="3429000"/>
            <a:ext cx="777240" cy="365760"/>
          </a:xfrm>
          <a:prstGeom prst="ellipse">
            <a:avLst/>
          </a:prstGeom>
          <a:solidFill>
            <a:srgbClr val="0B0F1A"/>
          </a:solidFill>
          <a:ln w="15875">
            <a:solidFill>
              <a:srgbClr val="4C8D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34290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480560" y="3429000"/>
            <a:ext cx="777240" cy="365760"/>
          </a:xfrm>
          <a:prstGeom prst="ellipse">
            <a:avLst/>
          </a:prstGeom>
          <a:solidFill>
            <a:srgbClr val="0B0F1A"/>
          </a:solidFill>
          <a:ln w="15875">
            <a:solidFill>
              <a:srgbClr val="4C8D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34290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22960" y="4251960"/>
            <a:ext cx="777240" cy="365760"/>
          </a:xfrm>
          <a:prstGeom prst="ellipse">
            <a:avLst/>
          </a:prstGeom>
          <a:solidFill>
            <a:srgbClr val="0B0F1A"/>
          </a:solidFill>
          <a:ln w="15875">
            <a:solidFill>
              <a:srgbClr val="4C8D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519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120640" y="4251960"/>
            <a:ext cx="777240" cy="365760"/>
          </a:xfrm>
          <a:prstGeom prst="ellipse">
            <a:avLst/>
          </a:prstGeom>
          <a:solidFill>
            <a:srgbClr val="0B0F1A"/>
          </a:solidFill>
          <a:ln w="15875">
            <a:solidFill>
              <a:srgbClr val="4C8D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42519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383280" y="4983480"/>
            <a:ext cx="777240" cy="365760"/>
          </a:xfrm>
          <a:prstGeom prst="ellipse">
            <a:avLst/>
          </a:prstGeom>
          <a:solidFill>
            <a:srgbClr val="0B0F1A"/>
          </a:solidFill>
          <a:ln w="15875">
            <a:solidFill>
              <a:srgbClr val="4C8D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49834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2960" y="5532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8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NetworkX in-memory + optional Neo4j persistence. Powers vendor exposure ranking and contract criticality analysis.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1828800"/>
            <a:ext cx="5468112" cy="4206240"/>
          </a:xfrm>
          <a:prstGeom prst="roundRect">
            <a:avLst>
              <a:gd name="adj" fmla="val 1739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2057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46520" y="2606040"/>
            <a:ext cx="4892040" cy="1371600"/>
          </a:xfrm>
          <a:prstGeom prst="roundRect">
            <a:avLst>
              <a:gd name="adj" fmla="val 4000"/>
            </a:avLst>
          </a:prstGeom>
          <a:solidFill>
            <a:srgbClr val="0B0F1A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274320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i="1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"Risk score 0.87 (critical) driven by: unlimited liability exposure; missing liability cap. Estimated financial exposure: $750,000."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46520" y="42062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to: 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46520" y="44348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scores, compliance violations, obligation priority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46520" y="48006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46520" y="50292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Plain-language narrative, not just a number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 READINESS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run, not just to demo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57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API-key auth, 3 role scopes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Token-bucket rate limiting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Full audit trail middleware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057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5603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Dockerfile + docker-compose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31546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Postgres, Redis, Neo4j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0" y="3749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Verified dependency resolution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057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&amp; Resilience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21040" y="25603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Stateless API, N workers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321040" y="31546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Event-driven reactive pipeline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321040" y="3749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Graceful fallback per engine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BONUS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Contract Negotiation Assistant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clause-level playbook detects risky language patterns — unlimited liability, ambiguous discretion, perpetual terms — and generates redline suggestions with rationale and negotiation leverage points for each flagged clause.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749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0" y="37490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8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 of risk triggers per clause type (payment, liability, termination...)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43159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431596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8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text, suggested replacement, rationale, negotiation leverage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488289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 clauses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488289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8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recommends standard clauses absent from the document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544982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544982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8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/bonus/negotiation-redlines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83680" y="1828800"/>
            <a:ext cx="5029200" cy="4206240"/>
          </a:xfrm>
          <a:prstGeom prst="roundRect">
            <a:avLst>
              <a:gd name="adj" fmla="val 1739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Redline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0" y="2560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0" y="28346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"...unlimited liability with no cap on damages..."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58000" y="34747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SUGGESTED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0" y="37490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"Total liability shall not exceed 100% of fees paid in the preceding 12 months."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858000" y="43891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LEVERAGE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0" y="46634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8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12-month fees-paid cap is a widely accepted market standard.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engines. Five agents. Real legal value.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57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Review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 extraction and risk scoring replace hours of manual reading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057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Missed Deadlines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5146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Obligation tracking flags renewals before they lapse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069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Compliance Risk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5262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checks across 7 regulatory frameworks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84048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4069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Attorney Trust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45262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risk score and alert comes with a plain-language reason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2026-09-04T10:44:30Z</dcterms:created>
  <dcterms:modified xsi:type="dcterms:W3CDTF">2026-09-04T10:44:30Z</dcterms:modified>
</cp:coreProperties>
</file>